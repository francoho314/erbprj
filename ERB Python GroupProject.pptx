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5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4" r:id="rId13"/>
    <p:sldId id="275" r:id="rId14"/>
    <p:sldId id="301" r:id="rId15"/>
    <p:sldId id="276" r:id="rId16"/>
    <p:sldId id="302" r:id="rId17"/>
    <p:sldId id="303" r:id="rId18"/>
    <p:sldId id="307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4" r:id="rId36"/>
    <p:sldId id="299" r:id="rId37"/>
    <p:sldId id="300" r:id="rId38"/>
    <p:sldId id="293" r:id="rId39"/>
    <p:sldId id="297" r:id="rId40"/>
    <p:sldId id="298" r:id="rId41"/>
    <p:sldId id="295" r:id="rId42"/>
    <p:sldId id="296" r:id="rId43"/>
    <p:sldId id="267" r:id="rId44"/>
    <p:sldId id="268" r:id="rId45"/>
    <p:sldId id="269" r:id="rId46"/>
    <p:sldId id="305" r:id="rId47"/>
    <p:sldId id="306" r:id="rId48"/>
    <p:sldId id="271" r:id="rId49"/>
    <p:sldId id="272" r:id="rId50"/>
    <p:sldId id="273" r:id="rId51"/>
  </p:sldIdLst>
  <p:sldSz cx="12192000" cy="6858000"/>
  <p:notesSz cx="6858000" cy="9144000"/>
  <p:embeddedFontLst>
    <p:embeddedFont>
      <p:font typeface="Bahnschrift SemiLight Condensed" panose="020B0502040204020203" pitchFamily="34" charset="0"/>
      <p:regular r:id="rId53"/>
    </p:embeddedFont>
    <p:embeddedFont>
      <p:font typeface="Century Gothic" panose="020B0502020202020204" pitchFamily="3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gTB3Zzv3rdYdznhi/T1HTq/En5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9EF2BC-C2F8-4F2C-B135-450D37AF5118}">
  <a:tblStyle styleId="{869EF2BC-C2F8-4F2C-B135-450D37AF51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font" Target="fonts/font3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1.fntdata"/><Relationship Id="rId58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5.fntdata"/><Relationship Id="rId61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4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B1FF79D-BF71-A418-0F36-B036AD1C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A4AD8D1B-5A90-6AC1-4179-67EEC6CEE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846C894A-328F-170F-4B34-ACA4C204C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2008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F43751-28B5-5AD5-60DE-148679B7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40F4B277-2781-7F86-DA3F-3ADF01469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F0B19FDB-76B8-3CFA-475B-2BDC5F2CD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540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24CF9D2-5DBC-C457-619E-3426AA60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238B5BB2-160E-1EC6-4B4C-53604BD38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E907DCCB-6ABB-5A77-B8CA-3BAEF562F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1022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2F980AB-AB7D-F890-69F8-C223EBBF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2CC6A0F0-ACAB-6B05-79F3-5ECAB8398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4854F76E-D27B-6B4C-C049-0A6CB0D16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791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F049CB1-0847-D330-6A70-91E3307F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DF71FC92-D27E-F728-96BD-671ACD192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685C9CFB-FDFB-FB89-9A73-4258196B5F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909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3378F43-B30B-3A25-B928-B9E81015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5AE59339-218B-997D-767C-AD4058556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FA9AFCC4-3607-345C-159A-B123CCAED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331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4A5C99F-EF8E-53EF-C77D-9FD538E5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ED767DC0-3134-903B-C748-DEBBDF306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BD5C5DF6-0B50-D9F4-AEDD-20B83C08E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7491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24DD32B-F84E-199F-D6D0-D3C4F0DB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D1969602-482B-85F0-C246-4F09ED642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AD1C585F-1CE1-FC9A-D04C-B869F5EF3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5323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970CAFD-1DF4-A2F0-D7C5-C5DD28B3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B09517EB-C408-F4F8-93E9-D35AC64F6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2024EFD4-A640-56FF-02D7-39BFC9B87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47155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1B570D1-11FF-F9E0-1342-A0C829FB1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3D7E3374-5BFF-CC17-347A-C29496F1B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A3C65AD3-C04D-869C-4D84-0833D1546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6629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14104D1-FBEF-66C2-B314-7225EFF1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256BB4FC-8F27-2624-974A-E86873AEE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E2D162F3-491B-0B10-97CC-E800DBF31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330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1FD4817-9812-E65D-220D-2800A8C5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6BE84A6A-9F18-D91E-4783-47F2EFB75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6F0A8456-ABB4-A2C9-8E8F-07EE833BC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4535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BF5ED2A-CA68-7409-3348-C86523A4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E20790B4-F756-E6BE-9702-C2FFDF628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E5E162EC-E7F0-2C9D-350F-6E5458365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320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33D95E9-605E-5BAD-0367-F9C6D15B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D5A4CF43-8F01-5874-BB19-3C5EB85FA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95E0A5EA-E8C4-0FCC-90CB-94398533E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65793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89F422C-67BE-1C02-E24B-DC73EA5D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1DB61807-DC9F-CFE0-ABBC-53FB68904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9E886099-CAA5-54A0-04C7-804EDE09D9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839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C2D3B2D-1047-6513-105B-9E337BC9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2BDD3C61-B9D5-25B3-DAA0-2C64C1823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892FE12C-490A-B8FF-FD83-D889F2949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787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8BF2C00-3E01-A5CE-C6E2-5747D56C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F3BF6102-F67C-891B-48B1-90FA38F25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EEB426B0-F06D-305F-043A-71885A8B8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55459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BE6CE48-E7D5-9A4B-6BA8-8113FED0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F07A96E1-E4FB-C467-60B3-D681EC6F1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4E28A712-52C0-7119-F996-E1E357944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27122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FB7632F-C459-A1B8-537F-DCF3FC8D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C197B99A-0264-EC5A-EBAB-31718AE02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68E0166D-997C-D1E3-1E2A-A759E8979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6290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71B175C-38C8-4948-8554-DD83B043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90555AC4-1ECC-0476-DCC3-7CF6B16AA2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D324528F-83A4-CC94-2D1C-B90F53FBB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54320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A030912-5268-3423-423A-396DCC7E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41478CCC-A732-4DA0-BE8F-90237EC11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FCE23FFE-2E79-7C09-1213-08F383AD9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73398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FD71B20-B0B2-6777-5CE8-B38EFE5A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8539A2EF-659E-56F3-6B06-AD1FB0529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A8880426-DE1C-77B8-356B-2AD6280C7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9488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277EA36-6A2A-F04E-F55C-9DDF271C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1536F379-EC00-7F90-19D7-F768B8BD1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2C427D8A-6BD8-96C5-19AE-CFA5EAB5A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9493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EC3DF6-86B0-405C-4EC1-B241DC56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BB25E9F6-80E3-700B-EC17-F1D7B9E0A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C3EE936A-7AE7-EECC-1AB0-69D9214E3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40110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8811B10-8857-4D24-B5B8-C6B17753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545D2CA4-C82F-3C2A-D225-7F771B357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4C53E17F-AC26-43E6-FF29-2691FA623B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79082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59B0FCD-5890-685C-DE46-A72913BF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A811D5DB-5201-9A00-B584-643BF92D5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31D994D9-5697-6F11-D443-187F3BCD8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36600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6B87EF2-B410-75EF-99DA-34C7AE3D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B6073558-6E56-A51A-6ED1-FC34D1736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E963E836-F374-62B8-C283-E3872D10F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2108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B6E528F-0D26-21C8-A247-0281E392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CD377E19-2057-CA9C-793C-A09C19B80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05358259-EA11-1C5C-726E-5AADB2D95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63249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6E0AA65-5B8F-DBE5-132D-71411C39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B973EC90-5463-3A1F-4476-4888A94D9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B9113430-51D4-07DA-5A07-335254B73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21666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82B2936-14CC-9445-D589-8FF7CB64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EB0913F9-678D-933F-2BB5-6BAF07864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AC38DF30-0E1C-80E3-23CA-A9D652DBA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42658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220596A-4EE6-795E-64A2-C8E9403E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C7DDB8D0-0BB4-0A99-0EA3-FFFAD90D2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4FB1836D-ABEC-831D-D9DF-35E63719D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57732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EA2169B-0707-0993-6AE6-164BF272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EE7A17E8-933A-5D1E-C48C-4A00941EB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48FDA3C8-C14C-772C-380C-5133D482B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212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B2D5541-DD79-CF1D-2DD4-7CE8CEEB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>
            <a:extLst>
              <a:ext uri="{FF2B5EF4-FFF2-40B4-BE49-F238E27FC236}">
                <a16:creationId xmlns:a16="http://schemas.microsoft.com/office/drawing/2014/main" id="{36C8DAA6-9FAC-A0E7-9DE5-913599BEE8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>
            <a:extLst>
              <a:ext uri="{FF2B5EF4-FFF2-40B4-BE49-F238E27FC236}">
                <a16:creationId xmlns:a16="http://schemas.microsoft.com/office/drawing/2014/main" id="{4C20CAE9-07B4-C719-D82F-4C643FCFE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9121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dbd37cb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9dbd37cb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2589120" y="2438280"/>
            <a:ext cx="8915040" cy="272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subTitle" idx="1"/>
          </p:nvPr>
        </p:nvSpPr>
        <p:spPr>
          <a:xfrm>
            <a:off x="2589120" y="5181480"/>
            <a:ext cx="8915040" cy="7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531720" y="452952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2589120" y="2438280"/>
            <a:ext cx="8915040" cy="272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2589120" y="5181480"/>
            <a:ext cx="8915040" cy="7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名片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531720" y="498312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8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7" name="Google Shape;7;p18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18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8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8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8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8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8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8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8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8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9;p18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20" name="Google Shape;20;p18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8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8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18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2589120" y="2514600"/>
            <a:ext cx="891504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4323960"/>
            <a:ext cx="1744200" cy="778320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531720" y="452952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20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47" name="Google Shape;47;p20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0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0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0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0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0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0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0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0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0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0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0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20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60" name="Google Shape;60;p20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0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0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0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0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0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0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0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0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0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0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0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20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20"/>
          <p:cNvSpPr/>
          <p:nvPr/>
        </p:nvSpPr>
        <p:spPr>
          <a:xfrm rot="10800000" flipH="1">
            <a:off x="-3960" y="714960"/>
            <a:ext cx="1588320" cy="50688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22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87" name="Google Shape;87;p22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2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2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2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2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2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2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2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2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2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2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2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2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100" name="Google Shape;100;p22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2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2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2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2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2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2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2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2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2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2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22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2589120" y="2438280"/>
            <a:ext cx="8915040" cy="272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2589120" y="5181480"/>
            <a:ext cx="8915040" cy="7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7" name="Google Shape;117;p22"/>
          <p:cNvSpPr/>
          <p:nvPr/>
        </p:nvSpPr>
        <p:spPr>
          <a:xfrm rot="10800000" flipH="1">
            <a:off x="-3960" y="4912200"/>
            <a:ext cx="1588320" cy="50688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2"/>
          <p:cNvSpPr txBox="1">
            <a:spLocks noGrp="1"/>
          </p:cNvSpPr>
          <p:nvPr>
            <p:ph type="sldNum" idx="12"/>
          </p:nvPr>
        </p:nvSpPr>
        <p:spPr>
          <a:xfrm>
            <a:off x="531720" y="498312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bc5OPGXQR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jangoproject.com/en/5.2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mailto:erbaffa@gmail.com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>
            <a:spLocks noGrp="1"/>
          </p:cNvSpPr>
          <p:nvPr>
            <p:ph type="title"/>
          </p:nvPr>
        </p:nvSpPr>
        <p:spPr>
          <a:xfrm>
            <a:off x="2589120" y="2514600"/>
            <a:ext cx="891504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n-US" sz="5400" b="0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書店管理系統</a:t>
            </a:r>
            <a:br>
              <a:rPr lang="en-US" sz="5400"/>
            </a:br>
            <a:r>
              <a:rPr lang="en-US" sz="3600" b="0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ERB 網站框架開發助理證書 </a:t>
            </a:r>
            <a:br>
              <a:rPr lang="en-US" sz="3600"/>
            </a:br>
            <a:r>
              <a:rPr lang="en-US" sz="3600" b="0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(CT 290DS007)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>
            <a:spLocks noGrp="1"/>
          </p:cNvSpPr>
          <p:nvPr>
            <p:ph type="subTitle" idx="1"/>
          </p:nvPr>
        </p:nvSpPr>
        <p:spPr>
          <a:xfrm>
            <a:off x="2589120" y="4777200"/>
            <a:ext cx="8915040" cy="11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3333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基於：Python, Django, PostgreSQL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2025年11月03日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組員：Alice Hui, Franco Ho, Felix Ng,Antoninus Yeung (AFFA)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280" y="890085"/>
            <a:ext cx="3277081" cy="1344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65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內容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>
            <a:spLocks noGrp="1"/>
          </p:cNvSpPr>
          <p:nvPr>
            <p:ph type="body" idx="1"/>
          </p:nvPr>
        </p:nvSpPr>
        <p:spPr>
          <a:xfrm>
            <a:off x="2517120" y="1575720"/>
            <a:ext cx="8915040" cy="48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專案目標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系統設計大綱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系統設計圖UML 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(Class Diagram, Object Diagram, E/R Diagram)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主程預覽 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主頁、書本清單、作者、類型、註册</a:t>
            </a:r>
            <a:r>
              <a:rPr lang="en-US" sz="20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Urls Endpoint 清單</a:t>
            </a:r>
            <a:endParaRPr sz="2400" b="0" i="0" u="none" strike="noStrike" cap="non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桃戰及感想</a:t>
            </a:r>
            <a:endParaRPr sz="24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附錄</a:t>
            </a:r>
            <a:endParaRPr sz="24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3080" marR="0" lvl="0" indent="-19044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6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專案目標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>
            <a:spLocks noGrp="1"/>
          </p:cNvSpPr>
          <p:nvPr>
            <p:ph type="body" idx="1"/>
          </p:nvPr>
        </p:nvSpPr>
        <p:spPr>
          <a:xfrm>
            <a:off x="2589120" y="1409040"/>
            <a:ext cx="8915040" cy="5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建立一個書籍網購網站，使用戶可以瀏覽、搜索、添加到購物車和購買各種書籍及相關產品，並且能接受使用者增添產品評價及留言。網站將使用 Django 作為後端Web框架， 它提供處理伺服器端（後端）邏輯、資料庫互動、使用者認證等功能，快速建立安全、可維護的網站。同時以PostgreSQL 作為數據庫，使用ORM簡化查詢、存取資料庫等工作。利用Django的MVT架構加快資料庫處理、 處理使用者請求、調用Model 獲取資料，並將資料傳遞給Template 進行渲染 。簡化前端顯示部分的工作，一體化完成前後端工作。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19044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ERB網站開發專案要求：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6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系統設計大綱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>
            <a:spLocks noGrp="1"/>
          </p:cNvSpPr>
          <p:nvPr>
            <p:ph type="body" idx="1"/>
          </p:nvPr>
        </p:nvSpPr>
        <p:spPr>
          <a:xfrm>
            <a:off x="2589120" y="1409040"/>
            <a:ext cx="8915040" cy="5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3080" marR="0" lvl="0" indent="-3430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釐定專案目標及可行性範圍；</a:t>
            </a:r>
            <a:endParaRPr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根據客戶（ERB）要求配置各必須包含的工具及內容；</a:t>
            </a:r>
            <a:endParaRPr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建立初始模型Prototype，包括前端網伺服器及架構，</a:t>
            </a:r>
            <a:r>
              <a:rPr lang="en-U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Django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伺服器、資料庫及相關程式庫Library；</a:t>
            </a:r>
            <a:endParaRPr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預算工作內容及時間，包括組員工作範圍、處理內容、各里程Milestone的確認；</a:t>
            </a:r>
            <a:endParaRPr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中、後期系統測試，上線及文件記錄。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Century Gothic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設計內容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系統設計圖UML；</a:t>
            </a:r>
            <a:endParaRPr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前端網頁設計及關聯示意圖；</a:t>
            </a:r>
            <a:endParaRPr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●"/>
            </a:pPr>
            <a:r>
              <a:rPr lang="en-U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Django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伺服器主程設計及功能；</a:t>
            </a:r>
            <a:endParaRPr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資料庫</a:t>
            </a:r>
            <a:r>
              <a:rPr lang="en-US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PostgreSQL</a:t>
            </a: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的資料表設計及相關功能架構；</a:t>
            </a:r>
            <a:endParaRPr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安全測試及系統維護的預案。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800" y="183743"/>
            <a:ext cx="6773760" cy="64087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84F95320-06CD-96D9-413F-A37F3D717287}"/>
              </a:ext>
            </a:extLst>
          </p:cNvPr>
          <p:cNvSpPr txBox="1">
            <a:spLocks/>
          </p:cNvSpPr>
          <p:nvPr/>
        </p:nvSpPr>
        <p:spPr>
          <a:xfrm>
            <a:off x="1628925" y="151466"/>
            <a:ext cx="3693960" cy="116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系統設計圖</a:t>
            </a:r>
            <a:r>
              <a:rPr lang="en-US" sz="3200" b="1" u="sng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UML</a:t>
            </a:r>
            <a:endParaRPr lang="en-US" sz="3200" dirty="0"/>
          </a:p>
          <a:p>
            <a:pPr algn="ctr">
              <a:buClr>
                <a:srgbClr val="262626"/>
              </a:buClr>
              <a:buSzPts val="3200"/>
              <a:buFont typeface="Century Gothic"/>
              <a:buNone/>
            </a:pPr>
            <a:r>
              <a:rPr lang="en-US" sz="3200" b="1" u="sng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(Class Diagram)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xfrm>
            <a:off x="1628925" y="151466"/>
            <a:ext cx="3693960" cy="116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None/>
            </a:pPr>
            <a:r>
              <a:rPr lang="en-US" sz="3200" b="1" u="sng" strike="noStrik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系統設計圖</a:t>
            </a:r>
            <a:r>
              <a:rPr lang="en-US" sz="3200" b="1" u="sng" strike="noStrike" dirty="0" err="1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UML</a:t>
            </a:r>
            <a:endParaRPr sz="32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lang="en-US" sz="3200" b="1" u="sng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(Object Diagram)</a:t>
            </a:r>
            <a:endParaRPr sz="32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600" y="1720641"/>
            <a:ext cx="10918799" cy="4613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885" y="546206"/>
            <a:ext cx="5879880" cy="59436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F2D0FFAC-3603-6B96-9ECB-798B8B34920C}"/>
              </a:ext>
            </a:extLst>
          </p:cNvPr>
          <p:cNvSpPr txBox="1">
            <a:spLocks/>
          </p:cNvSpPr>
          <p:nvPr/>
        </p:nvSpPr>
        <p:spPr>
          <a:xfrm>
            <a:off x="1628925" y="151466"/>
            <a:ext cx="3693960" cy="116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系統設計圖</a:t>
            </a:r>
            <a:r>
              <a:rPr lang="en-US" sz="3200" b="1" u="sng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UML</a:t>
            </a:r>
            <a:endParaRPr lang="en-US" sz="3200" dirty="0"/>
          </a:p>
          <a:p>
            <a:pPr algn="ctr">
              <a:buClr>
                <a:srgbClr val="262626"/>
              </a:buClr>
              <a:buSzPts val="3200"/>
              <a:buFont typeface="Century Gothic"/>
              <a:buNone/>
            </a:pPr>
            <a:r>
              <a:rPr lang="en-US" sz="3200" b="1" u="sng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(E/R Diagram)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2CE5145A-4F97-37F5-7207-167D5A5487A7}"/>
              </a:ext>
            </a:extLst>
          </p:cNvPr>
          <p:cNvSpPr txBox="1"/>
          <p:nvPr/>
        </p:nvSpPr>
        <p:spPr>
          <a:xfrm>
            <a:off x="2647950" y="6111830"/>
            <a:ext cx="6099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>
                <a:hlinkClick r:id="rId3"/>
              </a:rPr>
              <a:t>https://youtu.be/dbc5OPGXQRs</a:t>
            </a:r>
            <a:endParaRPr lang="en-HK" dirty="0"/>
          </a:p>
        </p:txBody>
      </p:sp>
      <p:pic>
        <p:nvPicPr>
          <p:cNvPr id="11" name="Graphic 10" descr="Presentation with media">
            <a:hlinkClick r:id="rId3"/>
            <a:extLst>
              <a:ext uri="{FF2B5EF4-FFF2-40B4-BE49-F238E27FC236}">
                <a16:creationId xmlns:a16="http://schemas.microsoft.com/office/drawing/2014/main" id="{1DB8BD5E-F115-16E8-5B87-8C4B2B347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5746" y="1745673"/>
            <a:ext cx="3034145" cy="3034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63E1D07E-C0C0-47B7-8A9C-FB34DAB56C97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50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首頁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1/3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058F1-EB01-DF53-CE5F-08CC02EEF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1CF1B4C5-7894-77FD-3455-BCCB2205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64F626C5-435A-4A98-0AD2-32AF652C4A90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首頁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2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/3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37E84-8AB1-BCB8-6E2B-C69941FF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33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D9D569A6-811E-7253-149C-433A96F8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62A3982C-5FAC-7F6E-1A3B-7D46FC428505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首頁 </a:t>
            </a:r>
            <a:r>
              <a:rPr lang="en-US" altLang="zh-TW" sz="3200" b="1" u="sng" dirty="0">
                <a:solidFill>
                  <a:srgbClr val="262626"/>
                </a:solidFill>
              </a:rPr>
              <a:t>(</a:t>
            </a:r>
            <a:r>
              <a:rPr lang="zh-TW" altLang="en-US" sz="3200" b="1" u="sng" dirty="0">
                <a:solidFill>
                  <a:srgbClr val="262626"/>
                </a:solidFill>
              </a:rPr>
              <a:t>英文模式</a:t>
            </a:r>
            <a:r>
              <a:rPr lang="en-US" altLang="zh-TW" sz="3200" b="1" u="sng" dirty="0">
                <a:solidFill>
                  <a:srgbClr val="262626"/>
                </a:solidFill>
              </a:rPr>
              <a:t>)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3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/3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636E6-D0BB-67EC-DD83-2270211D0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5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BFD3AABD-BC9D-936D-54DF-8569AE19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8;p6">
            <a:extLst>
              <a:ext uri="{FF2B5EF4-FFF2-40B4-BE49-F238E27FC236}">
                <a16:creationId xmlns:a16="http://schemas.microsoft.com/office/drawing/2014/main" id="{5C9444E3-32F9-4D3A-CF05-24811A6066A3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關於我們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/about/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1/2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53282-9A1A-B49F-C765-6703389DC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4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A051F994-250D-CE2F-FE9F-584CAD31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E45EA129-55D8-8C21-C42E-AB0B9CF62AA5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關於我們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/about/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2/2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976C7-7881-310F-3E14-CC6B56277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1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B599C22F-8701-EBA9-E642-87A756C7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0D54726F-122B-6D81-75FD-E0D4E2DEC287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私隱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/privacy/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1/2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1964B-A2E0-1E05-6581-808F49BE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0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9CA8639F-1AE4-B052-BB73-B074C1CA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259C74ED-C0B8-4221-1BA3-DEE080F40265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私隱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/privacy/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2/2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916D20-943C-507E-43CC-2D189980F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7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0AA6E624-63E4-E7B0-9AFC-53A9D1580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B4ACCE5B-9769-E40B-721B-FFA7E5A620E1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條款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terms_of_use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1/1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07404-5A41-5D8D-D473-5BFA405EE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30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431C3652-9F6F-F30A-870E-4A3970DD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8C602857-DC59-B53D-334F-850E93EDE5E1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1/4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ADDDA-A12E-1F7E-B837-DC8A6DCCB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7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27ABBCB5-AB07-A42C-D490-115C5EEEE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4B935139-8900-B741-0F87-5CB075EFD1F3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2/4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F74DD-3CFB-BCC7-FB39-30A8B1FC6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20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07538ABC-0C61-4C0C-DBEF-BC995478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D4530718-C74A-21BE-6478-D5DD6DDCDBD1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3/4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1681B-F6F1-5005-D530-96CFC204D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70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C4A07903-206F-B59F-C2DF-C23855F7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6585CB29-48E0-504C-7334-5E26AB8B0982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4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1F319-E907-4353-7A1F-8A168798B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1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688E66E2-0F29-B526-9A1A-172D0038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79D72FCC-ECC9-27E9-1B72-5B15397169A8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r>
              <a:rPr lang="zh-TW" altLang="en-US" sz="3200" b="1" u="sng" dirty="0">
                <a:solidFill>
                  <a:srgbClr val="262626"/>
                </a:solidFill>
              </a:rPr>
              <a:t>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/books/&lt;</a:t>
            </a: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1/4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A0F63-B76E-ECFC-62B8-03DEC540D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2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59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4A274C00-EAC8-5014-C67D-95BB51EF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1585C822-D13F-0BDB-1AB6-E38364369C75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r>
              <a:rPr lang="zh-TW" altLang="en-US" sz="3200" b="1" u="sng" dirty="0">
                <a:solidFill>
                  <a:srgbClr val="262626"/>
                </a:solidFill>
              </a:rPr>
              <a:t>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/books/&lt;</a:t>
            </a: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2/4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29C56-AF34-B0C5-4AE6-BB55665CF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49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765E5704-1CB4-6FFE-CE77-EFC8ADA8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ADBEE13A-94DD-16DF-BDF4-056F9A6457DF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r>
              <a:rPr lang="zh-TW" altLang="en-US" sz="3200" b="1" u="sng" dirty="0">
                <a:solidFill>
                  <a:srgbClr val="262626"/>
                </a:solidFill>
              </a:rPr>
              <a:t>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/books/&lt;</a:t>
            </a: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3/4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4B5E29-9A8D-1B59-F2F1-A0E73419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65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1C7594C5-1B3A-C22D-6CAA-A077AF27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A6D23732-4A30-AB96-CEDE-01088C58799B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書本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r>
              <a:rPr lang="zh-TW" altLang="en-US" sz="3200" b="1" u="sng" dirty="0">
                <a:solidFill>
                  <a:srgbClr val="262626"/>
                </a:solidFill>
              </a:rPr>
              <a:t> 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/books/&lt;</a:t>
            </a: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4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/4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E0714-FF5C-FF3B-380E-1E0AD85D8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64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D36770DA-EB8F-384F-12CB-A90A192C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E8B83266-8976-1EE3-D6BE-59B964F536BB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作者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/authors/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4E8D7-E778-AD92-A126-809056D06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66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49622A73-B8D8-5EC1-2B45-B45E6E7F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3473F771-D704-5328-F097-71CFAEA3D254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作者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/authors/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2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9039D-4494-E9A9-7A5A-24C61611F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78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85ACDF7C-7A61-14AA-5BD5-658DC32C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386B2C0C-2DCB-18B6-ADA7-83A8E1C2ECAD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作者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/authors/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&lt;</a:t>
            </a:r>
            <a:r>
              <a:rPr lang="en-US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9721B1-CDD5-F5B2-0D35-FB3A5E292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65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E1D0E1E0-6664-6AE6-1963-B647493C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E1AC5F1D-4529-D8E6-8B13-D63122A40148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作者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/authors/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&lt;</a:t>
            </a:r>
            <a:r>
              <a:rPr lang="en-US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2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E0340-A955-C569-D4B0-8E98C4EF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3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EDD45569-886A-436B-8C33-CAD49C67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AF7A80A8-B0D4-692E-BD2B-13A1BC8C8FA1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類型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genres/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BE67F4-C0E4-3A00-C7DB-243434DC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64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39FFDD84-A1A0-E6AC-0E9D-C9E9FCED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21FFBD7F-F711-8D38-77D0-B1FC9B0BEF2F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類型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genres/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2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E79CBB-3649-463A-DAF3-D459332C7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250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9B8E15FC-6B48-8268-E96F-1A7753D2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5A11529E-E749-F496-BB83-E2DA6D8237EF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類型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genres/&lt;</a:t>
            </a:r>
            <a:r>
              <a:rPr lang="en-US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3E74C-C4F4-8043-9AF7-5856BF6E9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10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BF190B69-0323-A8F8-D122-EFE90376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2AECC661-9DCE-B2F4-A1E8-DA6103FB51E4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類型</a:t>
            </a:r>
            <a:r>
              <a:rPr lang="en-HK" altLang="zh-TW" b="1" u="sng" dirty="0">
                <a:solidFill>
                  <a:srgbClr val="262626"/>
                </a:solidFill>
              </a:rPr>
              <a:t>(</a:t>
            </a:r>
            <a:r>
              <a:rPr lang="zh-TW" altLang="en-US" b="1" u="sng" dirty="0">
                <a:solidFill>
                  <a:srgbClr val="262626"/>
                </a:solidFill>
              </a:rPr>
              <a:t>個別</a:t>
            </a:r>
            <a:r>
              <a:rPr lang="en-US" altLang="zh-TW" b="1" u="sng" dirty="0">
                <a:solidFill>
                  <a:srgbClr val="262626"/>
                </a:solidFill>
              </a:rPr>
              <a:t>)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genres/&lt;</a:t>
            </a:r>
            <a:r>
              <a:rPr lang="en-US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US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2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C36FF-119B-830C-FF33-C0234B00C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20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E5BA5B96-FE79-F970-A464-A54E1232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2A8AC016-07DF-57D8-0FF7-BFE602667E6E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用戶操作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1/1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727BA-B6B9-4B3C-56BB-3DA0E7F9A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17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13AA6246-02D3-AF63-0707-8472A9C9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0343B761-5877-493C-1E55-1B4933177C95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註冊用戶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/register/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0352FC-4FD3-01C4-24E1-25D5394D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34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CFBE51F4-B388-8D6A-AE55-47CA1110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0253EB64-7CD3-038C-9FAC-7DEAE8C7DC90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註冊用戶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/register/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2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30350-AE9F-F055-4952-064AF3D6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88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067D3AED-9B8E-D1B3-2241-DD745436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7BF1E8CE-2249-D060-EA19-1915C72A4797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登入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/login/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1/1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CE9E9-7A6A-EA40-40AD-7B25B2096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85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9C9692F0-C0AE-E495-ABFA-3576F85A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70C7390E-9040-0E5C-A2B8-13E1CB552C09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用戶資料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/profile/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FFEA9-0B65-7D88-7B61-AF4F5745A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63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A053A16E-D6E4-1ED3-3DF2-2736291B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8;p6">
            <a:extLst>
              <a:ext uri="{FF2B5EF4-FFF2-40B4-BE49-F238E27FC236}">
                <a16:creationId xmlns:a16="http://schemas.microsoft.com/office/drawing/2014/main" id="{B34A6C8F-1E0F-D09E-B217-58D57DF77B68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用戶資料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/profile/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2/2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E1553-B1CE-0AA5-9FC6-BCA838828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58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2E9043FF-473B-D486-0462-17596E73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8;p6">
            <a:extLst>
              <a:ext uri="{FF2B5EF4-FFF2-40B4-BE49-F238E27FC236}">
                <a16:creationId xmlns:a16="http://schemas.microsoft.com/office/drawing/2014/main" id="{C4A1D929-4BBD-3BBB-3792-91CA30D3F08A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訂講歷史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/orders/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1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C0041-D90F-EE8C-9A0C-01EF2B6F9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77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BE1E1126-F963-3708-00DD-579AA65B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F31E5887-D12D-90AD-DAE5-4E9E2B2F7C13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zh-TW" altLang="en-US" sz="3200" b="1" u="sng" dirty="0">
                <a:solidFill>
                  <a:srgbClr val="262626"/>
                </a:solidFill>
              </a:rPr>
              <a:t>訂講歷史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/orders/&lt;</a:t>
            </a: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int:id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&gt;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2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A975F-0E0E-FEE6-4610-7B3D59B51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37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/>
        </p:nvSpPr>
        <p:spPr>
          <a:xfrm>
            <a:off x="2593080" y="624240"/>
            <a:ext cx="8911440" cy="6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sng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Django Settings Urls Endpoint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2589120" y="1409040"/>
            <a:ext cx="8915040" cy="5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bookstore/urls.py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0000"/>
              </a:buClr>
              <a:buSzPts val="810"/>
              <a:buFont typeface="Noto Sans Symbols"/>
              <a:buChar char="☺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endpoint: URL: 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0000"/>
              </a:buClr>
              <a:buSzPts val="810"/>
              <a:buFont typeface="Noto Sans Symbols"/>
              <a:buChar char="☺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endpoint: URL: /admin/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0000"/>
              </a:buClr>
              <a:buSzPts val="810"/>
              <a:buFont typeface="Noto Sans Symbols"/>
              <a:buChar char="☺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endpoint: URL: /accounts/login/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0000"/>
              </a:buClr>
              <a:buSzPts val="810"/>
              <a:buFont typeface="Noto Sans Symbols"/>
              <a:buChar char="☺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Logout endpoint: URL: /accounts/logout/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0000"/>
              </a:buClr>
              <a:buSzPts val="810"/>
              <a:buFont typeface="Noto Sans Symbols"/>
              <a:buChar char="☺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Authenticated endpoint: URL: /accounts/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1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4041720" y="1622880"/>
            <a:ext cx="17640" cy="1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752640" y="1680840"/>
            <a:ext cx="17640" cy="1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2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4836960" y="1611000"/>
            <a:ext cx="17640" cy="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3145320" y="1606320"/>
            <a:ext cx="17640" cy="1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6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Django Books App Urls Endpoint (1)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2589120" y="1409040"/>
            <a:ext cx="8915040" cy="5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books/urls.py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endpoint: URL: “”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 list endpoint: URL: /books/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 list (by ID) endpoint: URL: /books/&lt;int:book_id&gt;/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 endpoint: URL: /authors/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 (by ID) endpoint: URL: /authors/&lt;int:author_id&gt;/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Genres endpoint: URL: /genres/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Genres (by ID) endpoint: URL: /genres/&lt;int:genre_id&gt;/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(User) endpoint: URL: /register/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Profile endpoint: URL: /profile/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Profile (Edit) endpoint: URL: /profile/edit/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4041720" y="1622880"/>
            <a:ext cx="17640" cy="1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3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752640" y="1680840"/>
            <a:ext cx="17640" cy="1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3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4836960" y="1611000"/>
            <a:ext cx="17640" cy="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3145320" y="1606320"/>
            <a:ext cx="17640" cy="1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67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u="sng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Django Books App Urls Endpoint (2)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 txBox="1">
            <a:spLocks noGrp="1"/>
          </p:cNvSpPr>
          <p:nvPr>
            <p:ph type="body" idx="1"/>
          </p:nvPr>
        </p:nvSpPr>
        <p:spPr>
          <a:xfrm>
            <a:off x="2589120" y="1409040"/>
            <a:ext cx="8915040" cy="5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books/urls.py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 endpoint: URL: /cart/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 (Add Item) endpoint: URL: /cart/add/&lt;int:book_id&gt;/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 (Update Item) endpoint: URL: /cart/update/&lt;int:book_id&gt;/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 (Checkout) endpoint: URL: /checkout/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 endpoint: URL: /orders/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 (Details) endpoint: URL: /orders/&lt;int:order_id&gt;/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Orders (Cancel) endpoint: URL: /orders/&lt;int:order_id&gt;/cancel/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FBF00"/>
              </a:buClr>
              <a:buSzPts val="810"/>
              <a:buFont typeface="Noto Sans Symbols"/>
              <a:buAutoNum type="arabicPlain"/>
            </a:pPr>
            <a:br>
              <a:rPr lang="en-US" sz="1800" b="0" i="0" u="none" strike="noStrike" cap="none"/>
            </a:b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4041720" y="1622880"/>
            <a:ext cx="17640" cy="1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752640" y="1680840"/>
            <a:ext cx="17640" cy="1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4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4836960" y="1611000"/>
            <a:ext cx="17640" cy="20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3145320" y="1606320"/>
            <a:ext cx="17640" cy="1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3A3F1BD1-F342-BFAB-5F48-7C785DEF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7889591C-EFB1-F171-6D34-2A156E47AB7E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en-US" sz="3200" b="1" u="sng" dirty="0">
                <a:solidFill>
                  <a:srgbClr val="262626"/>
                </a:solidFill>
              </a:rPr>
              <a:t>admin</a:t>
            </a:r>
            <a:r>
              <a:rPr lang="zh-TW" altLang="en-US" sz="3200" b="1" u="sng" dirty="0">
                <a:solidFill>
                  <a:srgbClr val="262626"/>
                </a:solidFill>
              </a:rPr>
              <a:t>操作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/login/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1/2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F9882E-9C34-7514-B9CC-E979D4A55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614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0A35E0C8-844C-2A71-3D36-CD6F41F8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8;p6">
            <a:extLst>
              <a:ext uri="{FF2B5EF4-FFF2-40B4-BE49-F238E27FC236}">
                <a16:creationId xmlns:a16="http://schemas.microsoft.com/office/drawing/2014/main" id="{1BCFFF3B-D66A-D1AB-97E5-E60553DB5CCD}"/>
              </a:ext>
            </a:extLst>
          </p:cNvPr>
          <p:cNvSpPr txBox="1">
            <a:spLocks/>
          </p:cNvSpPr>
          <p:nvPr/>
        </p:nvSpPr>
        <p:spPr>
          <a:xfrm>
            <a:off x="380660" y="1405501"/>
            <a:ext cx="3693960" cy="141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262626"/>
              </a:buClr>
              <a:buSzPts val="3200"/>
            </a:pPr>
            <a:r>
              <a:rPr lang="en-US" sz="3200" b="1" u="sng" dirty="0">
                <a:solidFill>
                  <a:srgbClr val="262626"/>
                </a:solidFill>
              </a:rPr>
              <a:t>admin</a:t>
            </a:r>
            <a:r>
              <a:rPr lang="zh-TW" altLang="en-US" sz="3200" b="1" u="sng" dirty="0">
                <a:solidFill>
                  <a:srgbClr val="262626"/>
                </a:solidFill>
              </a:rPr>
              <a:t>操作</a:t>
            </a:r>
            <a:endParaRPr lang="en-US" sz="3200" b="1" u="sng" dirty="0">
              <a:solidFill>
                <a:srgbClr val="262626"/>
              </a:solidFill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en-HK" altLang="zh-TW" sz="2000" b="1" dirty="0" err="1">
                <a:solidFill>
                  <a:srgbClr val="0070C0"/>
                </a:solidFill>
                <a:latin typeface="Bahnschrift SemiLight Condensed" panose="020B0502040204020203" pitchFamily="34" charset="0"/>
              </a:rPr>
              <a:t>Urls</a:t>
            </a:r>
            <a:r>
              <a:rPr lang="en-HK" altLang="zh-TW" sz="2000" b="1" dirty="0">
                <a:solidFill>
                  <a:srgbClr val="0070C0"/>
                </a:solidFill>
                <a:latin typeface="Bahnschrift SemiLight Condensed" panose="020B0502040204020203" pitchFamily="34" charset="0"/>
              </a:rPr>
              <a:t>: /admin/</a:t>
            </a:r>
            <a:endParaRPr lang="en-HK" altLang="zh-TW" sz="2000" b="1" dirty="0">
              <a:solidFill>
                <a:srgbClr val="262626"/>
              </a:solidFill>
              <a:latin typeface="Bahnschrift SemiLight Condensed" panose="020B0502040204020203" pitchFamily="34" charset="0"/>
            </a:endParaRPr>
          </a:p>
          <a:p>
            <a:pPr algn="ctr">
              <a:buClr>
                <a:srgbClr val="262626"/>
              </a:buClr>
              <a:buSzPts val="3200"/>
            </a:pPr>
            <a:r>
              <a:rPr lang="zh-TW" alt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頁數</a:t>
            </a:r>
            <a:r>
              <a:rPr lang="en-US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 </a:t>
            </a:r>
            <a:r>
              <a:rPr lang="en-US" altLang="zh-TW" sz="2000" b="1" dirty="0">
                <a:solidFill>
                  <a:srgbClr val="262626"/>
                </a:solidFill>
                <a:latin typeface="Bahnschrift SemiLight Condensed" panose="020B0502040204020203" pitchFamily="34" charset="0"/>
              </a:rPr>
              <a:t>2/2</a:t>
            </a:r>
            <a:endParaRPr lang="en-US" sz="2000" dirty="0">
              <a:latin typeface="Bahnschrift SemiLight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C6A44-24A1-CED8-83D3-D7C929EC2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75732"/>
            <a:ext cx="778301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24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32" scaled="0"/>
        </a:gra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dbd37cb0d_0_5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5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u="sng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開發過程的挑戰與感想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9dbd37cb0d_0_5"/>
          <p:cNvSpPr txBox="1">
            <a:spLocks noGrp="1"/>
          </p:cNvSpPr>
          <p:nvPr>
            <p:ph type="body" idx="1"/>
          </p:nvPr>
        </p:nvSpPr>
        <p:spPr>
          <a:xfrm>
            <a:off x="2589120" y="1409040"/>
            <a:ext cx="8915100" cy="5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/>
              <a:t>首次與組員構建書店管理系統網站，需要參考網上不同的書店網站與實體書店之間的差異，發現網上使用多重篩選找尋書本種類比較快捷，但構建資料庫有一定的難度；</a:t>
            </a:r>
            <a:endParaRPr sz="2400"/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依據導師的指示先討講各種「類分析圖」以指導構建網站的大方向，過程想像的比較多，但可以實踐的比較預期困難。所以，組員要多次討論及嘗試以達至目標；</a:t>
            </a:r>
            <a:endParaRPr sz="2400"/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過程中組員除了援引導師所教導的知識外，並且使用人工智能AI去簡化編程工作，同時，需要組員加強檢測編碼與最終系統的一致性及可用性。所以，組員除了強化Python, Django的知識外，亦加強了AI的操作及認知；</a:t>
            </a:r>
            <a:endParaRPr sz="2400"/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是次ERB課程不單能得到導師的指導，學習了Python Django網站程式外，亦可以習得Git, CI/CD, Database等不同領域知識。雖然課程時間緊逼，但有導師及同學們相互支持而取得成功。</a:t>
            </a:r>
            <a:endParaRPr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1994040" y="511029"/>
            <a:ext cx="8911440" cy="61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n-US" sz="3600" b="1" u="sng" strike="noStrike" dirty="0" err="1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附錄</a:t>
            </a:r>
            <a:br>
              <a:rPr lang="en-US" sz="3600" dirty="0"/>
            </a:br>
            <a:endParaRPr sz="36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1645200" y="1828800"/>
            <a:ext cx="9863280" cy="318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499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entury Gothic"/>
              <a:buNone/>
            </a:pPr>
            <a:r>
              <a:rPr lang="en-US" sz="2400" b="1" u="sng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GITHUB</a:t>
            </a:r>
            <a:r>
              <a:rPr lang="en-US" sz="2400" b="1" i="0" u="sng" strike="noStrike" cap="none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參考</a:t>
            </a:r>
            <a:endParaRPr lang="en-HK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>
              <a:spcBef>
                <a:spcPts val="1001"/>
              </a:spcBef>
              <a:buSzPct val="100000"/>
            </a:pPr>
            <a:r>
              <a:rPr lang="en-HK" dirty="0"/>
              <a:t>https://github.com/francoho314/erbPrj.git</a:t>
            </a:r>
            <a:endParaRPr lang="en-HK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2286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SzPct val="100000"/>
              <a:buFont typeface="Arial"/>
              <a:buNone/>
            </a:pPr>
            <a:endParaRPr lang="en-HK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entury Gothic"/>
              <a:buNone/>
            </a:pPr>
            <a:r>
              <a:rPr lang="en-US" sz="2400" b="1" i="0" u="sng" strike="noStrike" cap="none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參考文獻及相關資源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142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A53010"/>
              </a:buClr>
              <a:buSzPct val="100000"/>
              <a:buFont typeface="Noto Sans Symbols"/>
              <a:buChar char="❖"/>
            </a:pPr>
            <a:r>
              <a:rPr lang="en-US" sz="1800" b="1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800" b="0" i="0" u="none" strike="noStrike" cap="none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800" b="0" i="0" u="none" strike="noStrike" cap="none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程式語言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800" b="0" i="0" u="sng" strike="noStrike" cap="none" dirty="0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https://www.python.org/doc/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142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A53010"/>
              </a:buClr>
              <a:buSzPct val="100000"/>
              <a:buFont typeface="Noto Sans Symbols"/>
              <a:buChar char="❖"/>
            </a:pPr>
            <a:r>
              <a:rPr lang="en-US" sz="1800" b="1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Django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Python高階Web應用程式框架, </a:t>
            </a:r>
            <a:r>
              <a:rPr lang="en-US" sz="1800" b="0" i="0" u="sng" strike="noStrike" cap="none" dirty="0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https://docs.djangoproject.com/en/5.2/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142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A53010"/>
              </a:buClr>
              <a:buSzPct val="100000"/>
              <a:buFont typeface="Noto Sans Symbols"/>
              <a:buChar char="❖"/>
            </a:pPr>
            <a:r>
              <a:rPr lang="en-US" sz="1800" b="1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Database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PostgreSQL </a:t>
            </a:r>
            <a:r>
              <a:rPr lang="en-US" sz="1800" b="0" i="0" u="none" strike="noStrike" cap="none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資料庫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US" sz="1800" b="0" i="0" u="sng" strike="noStrike" cap="none" dirty="0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https://www.postgresql.org/docs/18/index.html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142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A53010"/>
              </a:buClr>
              <a:buSzPct val="100000"/>
              <a:buFont typeface="Noto Sans Symbols"/>
              <a:buChar char="❖"/>
            </a:pPr>
            <a:r>
              <a:rPr lang="en-US" sz="1800" b="1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Library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Python </a:t>
            </a:r>
            <a:r>
              <a:rPr lang="en-US" sz="1800" b="0" i="0" u="none" strike="noStrike" cap="none" dirty="0" err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軟體套件儲存庫</a:t>
            </a:r>
            <a:r>
              <a:rPr lang="en-US" sz="1800" b="0" i="0" u="none" strike="noStrike" cap="none" dirty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800" b="0" i="0" u="sng" strike="noStrike" cap="none" dirty="0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https://pypi.org/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8" name="Google Shape;238;p16"/>
          <p:cNvGraphicFramePr/>
          <p:nvPr/>
        </p:nvGraphicFramePr>
        <p:xfrm>
          <a:off x="1744560" y="5117400"/>
          <a:ext cx="9410400" cy="1402130"/>
        </p:xfrm>
        <a:graphic>
          <a:graphicData uri="http://schemas.openxmlformats.org/drawingml/2006/table">
            <a:tbl>
              <a:tblPr>
                <a:noFill/>
                <a:tableStyleId>{869EF2BC-C2F8-4F2C-B135-450D37AF5118}</a:tableStyleId>
              </a:tblPr>
              <a:tblGrid>
                <a:gridCol w="47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 install library [links]</a:t>
                      </a:r>
                      <a:endParaRPr sz="11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 install library [links]</a:t>
                      </a:r>
                      <a:endParaRPr sz="11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autopep8 [https://pypi.org/project/autopep8/]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2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python-dotenv [https://pypi.org/project/python-dotenv/]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pillow [https://pypi.org/project/pillow/]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django-taggit [https://pypi.org/project/django-taggit/]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django-widget-tweaks [https://pypi.org/project/django-widget-tweaks/]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2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django-debug-toolbar [https://pypi.org/project/django-debug-toolbar/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psycopg2 [https://pypi.org/project/psycopg2/]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DE6C3"/>
            </a:gs>
            <a:gs pos="50000">
              <a:srgbClr val="E1ECF3"/>
            </a:gs>
            <a:gs pos="100000">
              <a:srgbClr val="FFFFFF"/>
            </a:gs>
          </a:gsLst>
          <a:lin ang="13500000" scaled="0"/>
        </a:gra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title" idx="4294967295"/>
          </p:nvPr>
        </p:nvSpPr>
        <p:spPr>
          <a:xfrm>
            <a:off x="2589120" y="1243251"/>
            <a:ext cx="8915040" cy="30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br>
              <a:rPr lang="en-US" sz="4800" b="0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4800" b="0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4800" b="0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Alice, Felix, Franco, Antoninus</a:t>
            </a:r>
            <a:br>
              <a:rPr lang="en-US" sz="4800" b="0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4800" b="1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erbaffa@gmail.com</a:t>
            </a:r>
            <a:br>
              <a:rPr lang="en-US" sz="4800" b="1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en-US" sz="4800" b="0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4800" b="0" i="0" u="none" strike="noStrike" cap="none" dirty="0" err="1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報告完結</a:t>
            </a:r>
            <a:r>
              <a:rPr lang="en-US" sz="4800" b="0" i="0" u="none" strike="noStrike" cap="non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!</a:t>
            </a:r>
            <a:endParaRPr sz="4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 txBox="1">
            <a:spLocks noGrp="1"/>
          </p:cNvSpPr>
          <p:nvPr>
            <p:ph type="body" idx="4294967295"/>
          </p:nvPr>
        </p:nvSpPr>
        <p:spPr>
          <a:xfrm>
            <a:off x="2589120" y="5181480"/>
            <a:ext cx="8915040" cy="7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謝謝!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絲縷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絲縷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1125</Words>
  <Application>Microsoft Office PowerPoint</Application>
  <PresentationFormat>Widescreen</PresentationFormat>
  <Paragraphs>193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Bahnschrift SemiLight Condensed</vt:lpstr>
      <vt:lpstr>Century Gothic</vt:lpstr>
      <vt:lpstr>Times New Roman</vt:lpstr>
      <vt:lpstr>Arial</vt:lpstr>
      <vt:lpstr>Noto Sans Symbols</vt:lpstr>
      <vt:lpstr>絲縷</vt:lpstr>
      <vt:lpstr>絲縷</vt:lpstr>
      <vt:lpstr>絲縷</vt:lpstr>
      <vt:lpstr>書店管理系統 ERB 網站框架開發助理證書  (CT 290DS007)</vt:lpstr>
      <vt:lpstr>內容</vt:lpstr>
      <vt:lpstr>專案目標</vt:lpstr>
      <vt:lpstr>系統設計大綱</vt:lpstr>
      <vt:lpstr>PowerPoint Presentation</vt:lpstr>
      <vt:lpstr>系統設計圖UML (Object Diagram)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Django Books App Urls Endpoint (1)</vt:lpstr>
      <vt:lpstr>Django Books App Urls Endpoint (2)</vt:lpstr>
      <vt:lpstr>PowerPoint Presentation</vt:lpstr>
      <vt:lpstr>PowerPoint Presentation</vt:lpstr>
      <vt:lpstr>開發過程的挑戰與感想</vt:lpstr>
      <vt:lpstr>附錄 </vt:lpstr>
      <vt:lpstr>  Alice, Felix, Franco, Antoninus erbaffa@gmail.com  報告完結!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Antoninus Yeung</dc:creator>
  <cp:lastModifiedBy>AYeung</cp:lastModifiedBy>
  <cp:revision>18</cp:revision>
  <dcterms:created xsi:type="dcterms:W3CDTF">2024-11-26T06:06:04Z</dcterms:created>
  <dcterms:modified xsi:type="dcterms:W3CDTF">2025-11-02T11:22:49Z</dcterms:modified>
</cp:coreProperties>
</file>